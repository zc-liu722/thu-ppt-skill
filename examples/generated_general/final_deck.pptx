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5nianduyanshiwengaomoban2-tongyongzhuti-media_1e9c74d69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09600" y="822960"/>
            <a:ext cx="1097280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025nianduyanshiwengaomoban5-kejizhuti-media_ac2274e5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548640"/>
            <a:ext cx="1463040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75360" y="1714500"/>
            <a:ext cx="8778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600" b="1">
                <a:solidFill>
                  <a:srgbClr val="5B9BD5"/>
                </a:solidFill>
                <a:latin typeface="Microsoft YaHei"/>
              </a:rPr>
              <a:t>清华大学科研项目阶段汇报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5360" y="2880360"/>
            <a:ext cx="67056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1F1F1F"/>
                </a:solidFill>
                <a:latin typeface="Microsoft YaHei"/>
              </a:rPr>
              <a:t>汇报人：科研项目组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5nianduyanshiwengaomoban5-kejizhuti-media_ac2274e5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440" y="548640"/>
            <a:ext cx="121920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5360" y="548640"/>
            <a:ext cx="8778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1">
                <a:solidFill>
                  <a:srgbClr val="5B9BD5"/>
                </a:solidFill>
                <a:latin typeface="Microsoft YaHei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60" y="1577340"/>
            <a:ext cx="4632960" cy="37719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1F1F1F"/>
                </a:solidFill>
                <a:latin typeface="Microsoft YaHei"/>
              </a:rPr>
              <a:t>概述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1F1F1F"/>
                </a:solidFill>
                <a:latin typeface="Microsoft YaHei"/>
              </a:rPr>
              <a:t>一、项目背景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1F1F1F"/>
                </a:solidFill>
                <a:latin typeface="Microsoft YaHei"/>
              </a:rPr>
              <a:t>二、阶段进展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9840" y="1577340"/>
            <a:ext cx="4632960" cy="37719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1F1F1F"/>
                </a:solidFill>
                <a:latin typeface="Microsoft YaHei"/>
              </a:rPr>
              <a:t>三、风险与对策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1F1F1F"/>
                </a:solidFill>
                <a:latin typeface="Microsoft YaHei"/>
              </a:rPr>
              <a:t>四、下一步计划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309360"/>
            <a:ext cx="792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00" b="0">
                <a:solidFill>
                  <a:srgbClr val="4472C4"/>
                </a:solidFill>
                <a:latin typeface="Microsoft YaHei"/>
              </a:rPr>
              <a:t>汇报人：科研项目组  日期：2026年3月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206490"/>
            <a:ext cx="10972800" cy="1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360" y="548640"/>
            <a:ext cx="8778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1">
                <a:solidFill>
                  <a:srgbClr val="5B9BD5"/>
                </a:solidFill>
                <a:latin typeface="Microsoft YaHei"/>
              </a:rPr>
              <a:t>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360" y="1577340"/>
            <a:ext cx="6096000" cy="37719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1F1F1F"/>
                </a:solidFill>
                <a:latin typeface="Microsoft YaHei"/>
              </a:rPr>
              <a:t>日期：2026年3月</a:t>
            </a:r>
          </a:p>
        </p:txBody>
      </p:sp>
      <p:pic>
        <p:nvPicPr>
          <p:cNvPr id="4" name="Picture 3" descr="2025nianduyanshiwengaomoban2-tongyongzhuti-media_987dbf526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645920"/>
            <a:ext cx="3413760" cy="3291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6309360"/>
            <a:ext cx="792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00" b="0">
                <a:solidFill>
                  <a:srgbClr val="4472C4"/>
                </a:solidFill>
                <a:latin typeface="Microsoft YaHei"/>
              </a:rPr>
              <a:t>汇报人：科研项目组  日期：2026年3月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6206490"/>
            <a:ext cx="10972800" cy="1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360" y="548640"/>
            <a:ext cx="8778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1">
                <a:solidFill>
                  <a:srgbClr val="5B9BD5"/>
                </a:solidFill>
                <a:latin typeface="Microsoft YaHei"/>
              </a:rPr>
              <a:t>一、项目背景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360" y="1577340"/>
            <a:ext cx="6096000" cy="37719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1F1F1F"/>
                </a:solidFill>
                <a:latin typeface="Microsoft YaHei"/>
              </a:rPr>
              <a:t>项目目标与研究意义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1F1F1F"/>
                </a:solidFill>
                <a:latin typeface="Microsoft YaHei"/>
              </a:rPr>
              <a:t>当前政策与学术背景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1F1F1F"/>
                </a:solidFill>
                <a:latin typeface="Microsoft YaHei"/>
              </a:rPr>
              <a:t>关键问题定义</a:t>
            </a:r>
          </a:p>
        </p:txBody>
      </p:sp>
      <p:pic>
        <p:nvPicPr>
          <p:cNvPr id="4" name="Picture 3" descr="2025nianduyanshiwengaomoban2-tongyongzhuti-media_51c15c8e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645920"/>
            <a:ext cx="3413760" cy="3291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6309360"/>
            <a:ext cx="792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00" b="0">
                <a:solidFill>
                  <a:srgbClr val="4472C4"/>
                </a:solidFill>
                <a:latin typeface="Microsoft YaHei"/>
              </a:rPr>
              <a:t>汇报人：科研项目组  日期：2026年3月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6206490"/>
            <a:ext cx="10972800" cy="1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360" y="548640"/>
            <a:ext cx="8778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1">
                <a:solidFill>
                  <a:srgbClr val="5B9BD5"/>
                </a:solidFill>
                <a:latin typeface="Microsoft YaHei"/>
              </a:rPr>
              <a:t>二、阶段进展</a:t>
            </a:r>
          </a:p>
        </p:txBody>
      </p:sp>
      <p:sp>
        <p:nvSpPr>
          <p:cNvPr id="3" name="Rectangle 2"/>
          <p:cNvSpPr/>
          <p:nvPr/>
        </p:nvSpPr>
        <p:spPr>
          <a:xfrm>
            <a:off x="1219200" y="2400300"/>
            <a:ext cx="1219200" cy="240030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19200" y="4937760"/>
            <a:ext cx="121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200" b="0">
                <a:solidFill>
                  <a:srgbClr val="1F1F1F"/>
                </a:solidFill>
                <a:latin typeface="Microsoft YaHei"/>
              </a:rPr>
              <a:t>完成需求调研与文献综述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0" y="3200400"/>
            <a:ext cx="1219200" cy="160020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0" y="4937760"/>
            <a:ext cx="121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200" b="0">
                <a:solidFill>
                  <a:srgbClr val="1F1F1F"/>
                </a:solidFill>
                <a:latin typeface="Microsoft YaHei"/>
              </a:rPr>
              <a:t>建立实验框架与评估指标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4632960" y="4000500"/>
            <a:ext cx="1219200" cy="80010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32960" y="4937760"/>
            <a:ext cx="121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200" b="0">
                <a:solidFill>
                  <a:srgbClr val="1F1F1F"/>
                </a:solidFill>
                <a:latin typeface="Microsoft YaHei"/>
              </a:rPr>
              <a:t>获得初步实验结果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309360"/>
            <a:ext cx="792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00" b="0">
                <a:solidFill>
                  <a:srgbClr val="4472C4"/>
                </a:solidFill>
                <a:latin typeface="Microsoft YaHei"/>
              </a:rPr>
              <a:t>汇报人：科研项目组  日期：2026年3月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6206490"/>
            <a:ext cx="10972800" cy="1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360" y="548640"/>
            <a:ext cx="8778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1">
                <a:solidFill>
                  <a:srgbClr val="5B9BD5"/>
                </a:solidFill>
                <a:latin typeface="Microsoft YaHei"/>
              </a:rPr>
              <a:t>三、风险与对策</a:t>
            </a:r>
          </a:p>
        </p:txBody>
      </p:sp>
      <p:sp>
        <p:nvSpPr>
          <p:cNvPr id="3" name="Rectangle 2"/>
          <p:cNvSpPr/>
          <p:nvPr/>
        </p:nvSpPr>
        <p:spPr>
          <a:xfrm>
            <a:off x="1219200" y="2400300"/>
            <a:ext cx="1219200" cy="240030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19200" y="4937760"/>
            <a:ext cx="121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200" b="0">
                <a:solidFill>
                  <a:srgbClr val="1F1F1F"/>
                </a:solidFill>
                <a:latin typeface="Microsoft YaHei"/>
              </a:rPr>
              <a:t>数据采集周期较长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0" y="3200400"/>
            <a:ext cx="1219200" cy="160020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0" y="4937760"/>
            <a:ext cx="121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200" b="0">
                <a:solidFill>
                  <a:srgbClr val="1F1F1F"/>
                </a:solidFill>
                <a:latin typeface="Microsoft YaHei"/>
              </a:rPr>
              <a:t>跨部门协同成本较高</a:t>
            </a:r>
          </a:p>
        </p:txBody>
      </p:sp>
      <p:sp>
        <p:nvSpPr>
          <p:cNvPr id="7" name="Rectangle 6"/>
          <p:cNvSpPr/>
          <p:nvPr/>
        </p:nvSpPr>
        <p:spPr>
          <a:xfrm>
            <a:off x="4632960" y="4000500"/>
            <a:ext cx="1219200" cy="80010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32960" y="4937760"/>
            <a:ext cx="121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200" b="0">
                <a:solidFill>
                  <a:srgbClr val="1F1F1F"/>
                </a:solidFill>
                <a:latin typeface="Microsoft YaHei"/>
              </a:rPr>
              <a:t>下一阶段资源安排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309360"/>
            <a:ext cx="792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00" b="0">
                <a:solidFill>
                  <a:srgbClr val="4472C4"/>
                </a:solidFill>
                <a:latin typeface="Microsoft YaHei"/>
              </a:rPr>
              <a:t>汇报人：科研项目组  日期：2026年3月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6206490"/>
            <a:ext cx="10972800" cy="1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360" y="548640"/>
            <a:ext cx="8778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1">
                <a:solidFill>
                  <a:srgbClr val="5B9BD5"/>
                </a:solidFill>
                <a:latin typeface="Microsoft YaHei"/>
              </a:rPr>
              <a:t>四、下一步计划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360" y="1577340"/>
            <a:ext cx="6096000" cy="37719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1F1F1F"/>
                </a:solidFill>
                <a:latin typeface="Microsoft YaHei"/>
              </a:rPr>
              <a:t>完善实验设计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1F1F1F"/>
                </a:solidFill>
                <a:latin typeface="Microsoft YaHei"/>
              </a:rPr>
              <a:t>扩展样本规模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1F1F1F"/>
                </a:solidFill>
                <a:latin typeface="Microsoft YaHei"/>
              </a:rPr>
              <a:t>形成阶段性论文与汇报材料</a:t>
            </a:r>
          </a:p>
        </p:txBody>
      </p:sp>
      <p:pic>
        <p:nvPicPr>
          <p:cNvPr id="4" name="Picture 3" descr="2025nianduyanshiwengaomoban2-tongyongzhuti-media_989522b2ac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645920"/>
            <a:ext cx="3413760" cy="3291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6309360"/>
            <a:ext cx="792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00" b="0">
                <a:solidFill>
                  <a:srgbClr val="4472C4"/>
                </a:solidFill>
                <a:latin typeface="Microsoft YaHei"/>
              </a:rPr>
              <a:t>汇报人：科研项目组  日期：2026年3月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6206490"/>
            <a:ext cx="10972800" cy="1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360" y="548640"/>
            <a:ext cx="8778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1">
                <a:solidFill>
                  <a:srgbClr val="5B9BD5"/>
                </a:solidFill>
                <a:latin typeface="Microsoft YaHei"/>
              </a:rPr>
              <a:t>总结与展望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360" y="1577340"/>
            <a:ext cx="6096000" cy="37719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1F1F1F"/>
                </a:solidFill>
                <a:latin typeface="Microsoft YaHei"/>
              </a:rPr>
              <a:t>日期：2026年3月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1F1F1F"/>
                </a:solidFill>
                <a:latin typeface="Microsoft YaHei"/>
              </a:rPr>
              <a:t>项目目标与研究意义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1F1F1F"/>
                </a:solidFill>
                <a:latin typeface="Microsoft YaHei"/>
              </a:rPr>
              <a:t>完成需求调研与文献综述</a:t>
            </a:r>
          </a:p>
        </p:txBody>
      </p:sp>
      <p:pic>
        <p:nvPicPr>
          <p:cNvPr id="4" name="Picture 3" descr="2025nianduyanshiwengaomoban2-tongyongzhuti-media_5c807933cc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645920"/>
            <a:ext cx="3413760" cy="3291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6309360"/>
            <a:ext cx="792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00" b="0">
                <a:solidFill>
                  <a:srgbClr val="4472C4"/>
                </a:solidFill>
                <a:latin typeface="Microsoft YaHei"/>
              </a:rPr>
              <a:t>汇报人：科研项目组  日期：2026年3月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6206490"/>
            <a:ext cx="10972800" cy="1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5nianduyanshiwengaomoban2-tongyongzhuti-media_1e9c74d69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09600" y="822960"/>
            <a:ext cx="1097280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025nianduyanshiwengaomoban5-kejizhuti-media_ac2274e5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548640"/>
            <a:ext cx="1463040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75360" y="1714500"/>
            <a:ext cx="8778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600" b="1">
                <a:solidFill>
                  <a:srgbClr val="5B9BD5"/>
                </a:solidFill>
                <a:latin typeface="Microsoft YaHei"/>
              </a:rPr>
              <a:t>谢谢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5360" y="2880360"/>
            <a:ext cx="67056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1F1F1F"/>
                </a:solidFill>
                <a:latin typeface="Microsoft YaHei"/>
              </a:rPr>
              <a:t>汇报人：科研项目组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1F1F1F"/>
                </a:solidFill>
                <a:latin typeface="Microsoft YaHei"/>
              </a:rPr>
              <a:t>日期：2026年3月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